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(15 s)
Buenas tardes profesor. Somos el equipo de Nanoparuro. En los próximos 5 minutos les mostramos la realidad de la empresa, su problemática, los indicadores que necesita y los KPIs que vamos a medir. Luego pasamos a la demo funcional.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LA REALIDAD (~50 s)
Nanoparuro es un e-commerce peruano que vende componentes electrónicos: Arduino, Raspberry Pi, sensores y módulos de robótica, y los envía a diferentes regiones del país.
Hoy todo funciona sobre un sistema transaccional (OLTP): ventas, inventarios y envíos.
Hay tres personas que necesitan datos para decidir: el gerente de operaciones, el analista de marketing y el jefe de logística.
Palabras clave: E-commerce · Componentes · Robótica · Envíos · Todo el Perú · 3 usuarios.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LA PROBLEMÁTICA EN CIFRAS (~60 s)
La situación inicial se resume en tres números (son estimaciones iniciales del informe):
- 48 horas para armar un reporte consolidado, porque se hace a mano en Excel.
- 18 % de quiebre de stock en productos de alta demanda como sensores y microcontroladores.
- 35 % de abandono en el proceso de compra: carritos que nadie analiza.
Palabras clave: 48 horas · 18 % · 35 % · Excel · Stock · Carritos.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CAUSA Y CONSECUENCIA (~50 s)
La causa: las ventas, los clics de los usuarios y los envíos viven en sistemas separados. Para juntarlos hay que pasarlos a Excel a mano, y el sistema OLTP no está hecho para consultas analíticas pesadas.
La consecuencia: se decide tarde y a ciegas. Se repone cuando ya hay faltante, y marketing no aprovecha el historial de navegación. Eso afecta la competitividad frente a importadores directos y el capital inmovilizado en inventario.
Palabras clave: Silos · Excel · OLTP lento · Reactivo · Competitividad.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INDICADORES (~60 s)
Cada área necesita responder preguntas distintas:
- Gerente de operaciones: ¿cómo evolucionan las ventas por mes y qué categorías aportan más?
- Jefe de logística: ¿qué productos concentran las ventas y qué regiones tienen más entregas tardías?
- Analista de marketing: ¿qué regiones y categorías impulsar, quiénes son clientes recurrentes y cómo influye la entrega en la satisfacción?
De esas preguntas salen los indicadores.
Palabras clave: Ventas por mes · Entregas tardías · Clientes recurrentes · Satisfacción.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KPIs (~60 s)
Definimos 8 KPIs en el dashboard:
Comerciales: ventas totales, número de órdenes y ticket promedio.
Clientes: cantidad de clientes, ticket por cliente y calificación promedio.
Logística: tiempo promedio de entrega y tasa de entrega tardía.
La meta de rendimiento es que cada KPI responda en menos de 5 segundos, frente a las 48 horas actuales.
Nota honesta (si preguntan): quiebre de stock, rotación de inventario y conversión necesitan datos de inventario y clics del respaldo de Nanoparuro; el dataset de práctica (Olist) no los trae, por eso están planteados como siguiente etapa.
Palabras clave: 8 KPIs · Ticket · Calificación · Entrega tardía · &lt; 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PUENTE A LA DEMO (~20 s)
Nuestro objetivo es pasar de 48 horas de reporte manual a consultas interactivas en menos de 5 segundos. Para eso construimos: datos → ETL con calidad de datos → Data Mart → Dashboard. Veamos ahora la demostración funcional.
Palabras clave: 48 h → &lt; 5 s · ETL · Data Mart ·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9D3C5">
              <a:alpha val="8000"/>
            </a:srgbClr>
          </a:solidFill>
          <a:ln w="12700">
            <a:solidFill>
              <a:srgbClr val="19D3C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749040"/>
            <a:ext cx="2743200" cy="2743200"/>
          </a:xfrm>
          <a:prstGeom prst="ellipse">
            <a:avLst/>
          </a:prstGeom>
          <a:solidFill>
            <a:srgbClr val="FF8A3D">
              <a:alpha val="7000"/>
            </a:srgbClr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9D3C5"/>
                </a:solidFill>
              </a:rPr>
              <a:t>PROYECTO FINAL · BASAV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Nanoparuro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A3D"/>
                </a:solidFill>
              </a:rPr>
              <a:t>Realidad · Problemática · KPIs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4CF"/>
                </a:solidFill>
              </a:rPr>
              <a:t>Inteligencia de Negocios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1B2544"/>
          </a:solidFill>
          <a:ln w="25400">
            <a:solidFill>
              <a:srgbClr val="19D3C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1280160" cy="12801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55080" y="1005840"/>
            <a:ext cx="182880" cy="27432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86600" y="1005840"/>
            <a:ext cx="182880" cy="27432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18120" y="1005840"/>
            <a:ext cx="182880" cy="27432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3474720"/>
            <a:ext cx="182880" cy="27432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86600" y="3474720"/>
            <a:ext cx="182880" cy="27432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18120" y="3474720"/>
            <a:ext cx="182880" cy="27432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0" y="1508760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0" y="1508760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0" y="2240280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12480" y="2240280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43600" y="2971800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0" y="2971800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F"/>
                </a:solidFill>
              </a:rPr>
              <a:t>Briceño · Malvaceda · Mamani · Sulca · Vergara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9D3C5">
              <a:alpha val="8000"/>
            </a:srgbClr>
          </a:solidFill>
          <a:ln w="12700">
            <a:solidFill>
              <a:srgbClr val="19D3C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749040"/>
            <a:ext cx="2743200" cy="2743200"/>
          </a:xfrm>
          <a:prstGeom prst="ellipse">
            <a:avLst/>
          </a:prstGeom>
          <a:solidFill>
            <a:srgbClr val="FF8A3D">
              <a:alpha val="7000"/>
            </a:srgbClr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LA REALIDAD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es Nanoparuro?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1463040" cy="1463040"/>
          </a:xfrm>
          <a:prstGeom prst="ellipse">
            <a:avLst/>
          </a:prstGeom>
          <a:solidFill>
            <a:srgbClr val="19D3C5">
              <a:alpha val="20000"/>
            </a:srgbClr>
          </a:solidFill>
          <a:ln w="19050">
            <a:solidFill>
              <a:srgbClr val="19D3C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731520" cy="731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1148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Componentes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743200" y="1600200"/>
            <a:ext cx="1463040" cy="1463040"/>
          </a:xfrm>
          <a:prstGeom prst="ellipse">
            <a:avLst/>
          </a:prstGeom>
          <a:solidFill>
            <a:srgbClr val="FF8A3D">
              <a:alpha val="20000"/>
            </a:srgbClr>
          </a:solidFill>
          <a:ln w="19050">
            <a:solidFill>
              <a:srgbClr val="FF8A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96596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46888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Robótica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800600" y="1600200"/>
            <a:ext cx="1463040" cy="1463040"/>
          </a:xfrm>
          <a:prstGeom prst="ellipse">
            <a:avLst/>
          </a:prstGeom>
          <a:solidFill>
            <a:srgbClr val="9B7BFF">
              <a:alpha val="20000"/>
            </a:srgbClr>
          </a:solidFill>
          <a:ln w="19050">
            <a:solidFill>
              <a:srgbClr val="9B7B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96596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2628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Envíos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858000" y="1600200"/>
            <a:ext cx="1463040" cy="1463040"/>
          </a:xfrm>
          <a:prstGeom prst="ellipse">
            <a:avLst/>
          </a:prstGeom>
          <a:solidFill>
            <a:srgbClr val="19D3C5">
              <a:alpha val="20000"/>
            </a:srgbClr>
          </a:solidFill>
          <a:ln w="19050">
            <a:solidFill>
              <a:srgbClr val="19D3C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965960"/>
            <a:ext cx="731520" cy="7315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58368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Todo el Perú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548640" y="3931920"/>
            <a:ext cx="8046720" cy="640080"/>
          </a:xfrm>
          <a:prstGeom prst="roundRect">
            <a:avLst>
              <a:gd name="adj" fmla="val 28571"/>
            </a:avLst>
          </a:prstGeom>
          <a:solidFill>
            <a:srgbClr val="141C33"/>
          </a:solidFill>
          <a:ln w="12700">
            <a:solidFill>
              <a:srgbClr val="1B2544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6908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80160" y="4069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Gerente de Operaciones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4069080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3977640" y="4069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Marketing</a:t>
            </a:r>
            <a:endParaRPr lang="en-US" sz="14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4069080"/>
            <a:ext cx="365760" cy="36576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675120" y="4069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Logística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9D3C5">
              <a:alpha val="8000"/>
            </a:srgbClr>
          </a:solidFill>
          <a:ln w="12700">
            <a:solidFill>
              <a:srgbClr val="19D3C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749040"/>
            <a:ext cx="2743200" cy="2743200"/>
          </a:xfrm>
          <a:prstGeom prst="ellipse">
            <a:avLst/>
          </a:prstGeom>
          <a:solidFill>
            <a:srgbClr val="FF8A3D">
              <a:alpha val="7000"/>
            </a:srgbClr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 PROBLEMÁTICA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hoy duele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560320" cy="2834640"/>
          </a:xfrm>
          <a:prstGeom prst="roundRect">
            <a:avLst>
              <a:gd name="adj" fmla="val 8929"/>
            </a:avLst>
          </a:prstGeom>
          <a:solidFill>
            <a:srgbClr val="141C33"/>
          </a:solidFill>
          <a:ln w="19050">
            <a:solidFill>
              <a:srgbClr val="FF8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737360"/>
            <a:ext cx="914400" cy="914400"/>
          </a:xfrm>
          <a:prstGeom prst="ellipse">
            <a:avLst/>
          </a:prstGeom>
          <a:solidFill>
            <a:srgbClr val="FF8A3D">
              <a:alpha val="20000"/>
            </a:srgbClr>
          </a:solidFill>
          <a:ln w="19050">
            <a:solidFill>
              <a:srgbClr val="FF8A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9659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743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h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Reporte consolidado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4CF"/>
                </a:solidFill>
              </a:rPr>
              <a:t>Excel manual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91840" y="1554480"/>
            <a:ext cx="2560320" cy="2834640"/>
          </a:xfrm>
          <a:prstGeom prst="roundRect">
            <a:avLst>
              <a:gd name="adj" fmla="val 8929"/>
            </a:avLst>
          </a:prstGeom>
          <a:solidFill>
            <a:srgbClr val="141C33"/>
          </a:solidFill>
          <a:ln w="19050">
            <a:solidFill>
              <a:srgbClr val="19D3C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0" y="1737360"/>
            <a:ext cx="914400" cy="914400"/>
          </a:xfrm>
          <a:prstGeom prst="ellipse">
            <a:avLst/>
          </a:prstGeom>
          <a:solidFill>
            <a:srgbClr val="19D3C5">
              <a:alpha val="20000"/>
            </a:srgbClr>
          </a:solidFill>
          <a:ln w="19050">
            <a:solidFill>
              <a:srgbClr val="19D3C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659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291840" y="2743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9D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18 %</a:t>
            </a:r>
            <a:endParaRPr lang="en-US" sz="4800" dirty="0"/>
          </a:p>
        </p:txBody>
      </p:sp>
      <p:sp>
        <p:nvSpPr>
          <p:cNvPr id="16" name="Text 12"/>
          <p:cNvSpPr txBox="1"/>
          <p:nvPr/>
        </p:nvSpPr>
        <p:spPr>
          <a:xfrm>
            <a:off x="329184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Quiebre de stock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29184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4CF"/>
                </a:solidFill>
              </a:rPr>
              <a:t>Sensores y micros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035040" y="1554480"/>
            <a:ext cx="2560320" cy="2834640"/>
          </a:xfrm>
          <a:prstGeom prst="roundRect">
            <a:avLst>
              <a:gd name="adj" fmla="val 8929"/>
            </a:avLst>
          </a:prstGeom>
          <a:solidFill>
            <a:srgbClr val="141C33"/>
          </a:solidFill>
          <a:ln w="19050">
            <a:solidFill>
              <a:srgbClr val="9B7B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58000" y="1737360"/>
            <a:ext cx="914400" cy="914400"/>
          </a:xfrm>
          <a:prstGeom prst="ellipse">
            <a:avLst/>
          </a:prstGeom>
          <a:solidFill>
            <a:srgbClr val="9B7BFF">
              <a:alpha val="20000"/>
            </a:srgbClr>
          </a:solidFill>
          <a:ln w="19050">
            <a:solidFill>
              <a:srgbClr val="9B7B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9659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035040" y="2743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B7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35 %</a:t>
            </a:r>
            <a:endParaRPr lang="en-US" sz="4800" dirty="0"/>
          </a:p>
        </p:txBody>
      </p:sp>
      <p:sp>
        <p:nvSpPr>
          <p:cNvPr id="22" name="Text 17"/>
          <p:cNvSpPr txBox="1"/>
          <p:nvPr/>
        </p:nvSpPr>
        <p:spPr>
          <a:xfrm>
            <a:off x="603504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Carritos abandonados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03504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4CF"/>
                </a:solidFill>
              </a:rPr>
              <a:t>Sin analizar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B4CF"/>
                </a:solidFill>
              </a:rPr>
              <a:t>Valores estimados de la situación inicial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9D3C5">
              <a:alpha val="8000"/>
            </a:srgbClr>
          </a:solidFill>
          <a:ln w="12700">
            <a:solidFill>
              <a:srgbClr val="19D3C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749040"/>
            <a:ext cx="2743200" cy="2743200"/>
          </a:xfrm>
          <a:prstGeom prst="ellipse">
            <a:avLst/>
          </a:prstGeom>
          <a:solidFill>
            <a:srgbClr val="FF8A3D">
              <a:alpha val="7000"/>
            </a:srgbClr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 PROBLEMÁTICA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aislados, decisiones tardías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77240" cy="777240"/>
          </a:xfrm>
          <a:prstGeom prst="ellipse">
            <a:avLst/>
          </a:prstGeom>
          <a:solidFill>
            <a:srgbClr val="19D3C5">
              <a:alpha val="20000"/>
            </a:srgbClr>
          </a:solidFill>
          <a:ln w="19050">
            <a:solidFill>
              <a:srgbClr val="19D3C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657350"/>
            <a:ext cx="388620" cy="3886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Ventas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514600"/>
            <a:ext cx="777240" cy="777240"/>
          </a:xfrm>
          <a:prstGeom prst="ellipse">
            <a:avLst/>
          </a:prstGeom>
          <a:solidFill>
            <a:srgbClr val="19D3C5">
              <a:alpha val="20000"/>
            </a:srgbClr>
          </a:solidFill>
          <a:ln w="19050">
            <a:solidFill>
              <a:srgbClr val="19D3C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270891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697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Clics web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3566160"/>
            <a:ext cx="777240" cy="777240"/>
          </a:xfrm>
          <a:prstGeom prst="ellipse">
            <a:avLst/>
          </a:prstGeom>
          <a:solidFill>
            <a:srgbClr val="19D3C5">
              <a:alpha val="20000"/>
            </a:srgbClr>
          </a:solidFill>
          <a:ln w="19050">
            <a:solidFill>
              <a:srgbClr val="19D3C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76047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Envíos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017520" y="2514600"/>
            <a:ext cx="822960" cy="457200"/>
          </a:xfrm>
          <a:prstGeom prst="rightArrow">
            <a:avLst/>
          </a:prstGeom>
          <a:solidFill>
            <a:srgbClr val="A9B4CF"/>
          </a:solidFill>
          <a:ln w="12700">
            <a:solidFill>
              <a:srgbClr val="A9B4C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023360" y="2148840"/>
            <a:ext cx="1188720" cy="1188720"/>
          </a:xfrm>
          <a:prstGeom prst="ellipse">
            <a:avLst/>
          </a:prstGeom>
          <a:solidFill>
            <a:srgbClr val="FF8A3D">
              <a:alpha val="20000"/>
            </a:srgbClr>
          </a:solidFill>
          <a:ln w="19050">
            <a:solidFill>
              <a:srgbClr val="FF8A3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2446020"/>
            <a:ext cx="594360" cy="5943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74904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Excel manual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486400" y="2514600"/>
            <a:ext cx="822960" cy="457200"/>
          </a:xfrm>
          <a:prstGeom prst="rightArrow">
            <a:avLst/>
          </a:prstGeom>
          <a:solidFill>
            <a:srgbClr val="A9B4CF"/>
          </a:solidFill>
          <a:ln w="12700">
            <a:solidFill>
              <a:srgbClr val="A9B4C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92240" y="2148840"/>
            <a:ext cx="1188720" cy="1188720"/>
          </a:xfrm>
          <a:prstGeom prst="ellipse">
            <a:avLst/>
          </a:prstGeom>
          <a:solidFill>
            <a:srgbClr val="FF8A3D">
              <a:alpha val="20000"/>
            </a:srgbClr>
          </a:solidFill>
          <a:ln w="19050">
            <a:solidFill>
              <a:srgbClr val="FF8A3D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420" y="2446020"/>
            <a:ext cx="594360" cy="5943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217920" y="3383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Decisiones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reactivas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D3C5"/>
                </a:solidFill>
              </a:rPr>
              <a:t>Sistemas separados · OLTP lento para análisis · Reposición tardía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9D3C5">
              <a:alpha val="8000"/>
            </a:srgbClr>
          </a:solidFill>
          <a:ln w="12700">
            <a:solidFill>
              <a:srgbClr val="19D3C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749040"/>
            <a:ext cx="2743200" cy="2743200"/>
          </a:xfrm>
          <a:prstGeom prst="ellipse">
            <a:avLst/>
          </a:prstGeom>
          <a:solidFill>
            <a:srgbClr val="FF8A3D">
              <a:alpha val="7000"/>
            </a:srgbClr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INDICADORES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necesita saber cada área?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8929"/>
            </a:avLst>
          </a:prstGeom>
          <a:solidFill>
            <a:srgbClr val="141C33"/>
          </a:solidFill>
          <a:ln w="19050">
            <a:solidFill>
              <a:srgbClr val="19D3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645920"/>
            <a:ext cx="914400" cy="914400"/>
          </a:xfrm>
          <a:prstGeom prst="ellipse">
            <a:avLst/>
          </a:prstGeom>
          <a:solidFill>
            <a:srgbClr val="19D3C5">
              <a:alpha val="20000"/>
            </a:srgbClr>
          </a:solidFill>
          <a:ln w="19050">
            <a:solidFill>
              <a:srgbClr val="19D3C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74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Gerente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22960" y="3200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9D3C5">
              <a:alpha val="20000"/>
            </a:srgbClr>
          </a:solidFill>
          <a:ln w="12700">
            <a:solidFill>
              <a:srgbClr val="19D3C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Ventas por mes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36576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9D3C5">
              <a:alpha val="20000"/>
            </a:srgbClr>
          </a:solidFill>
          <a:ln w="12700">
            <a:solidFill>
              <a:srgbClr val="19D3C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Categorías top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91840" y="1463040"/>
            <a:ext cx="2560320" cy="3108960"/>
          </a:xfrm>
          <a:prstGeom prst="roundRect">
            <a:avLst>
              <a:gd name="adj" fmla="val 8929"/>
            </a:avLst>
          </a:prstGeom>
          <a:solidFill>
            <a:srgbClr val="141C33"/>
          </a:solidFill>
          <a:ln w="19050">
            <a:solidFill>
              <a:srgbClr val="FF8A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14800" y="1645920"/>
            <a:ext cx="914400" cy="914400"/>
          </a:xfrm>
          <a:prstGeom prst="ellipse">
            <a:avLst/>
          </a:prstGeom>
          <a:solidFill>
            <a:srgbClr val="FF8A3D">
              <a:alpha val="20000"/>
            </a:srgbClr>
          </a:solidFill>
          <a:ln w="19050">
            <a:solidFill>
              <a:srgbClr val="FF8A3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8745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2918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Logística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3566160" y="3200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F8A3D">
              <a:alpha val="20000"/>
            </a:srgbClr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56616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Entregas tardías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566160" y="36576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F8A3D">
              <a:alpha val="20000"/>
            </a:srgbClr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566160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Regiones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566160" y="41148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F8A3D">
              <a:alpha val="20000"/>
            </a:srgbClr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566160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Productos top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035040" y="1463040"/>
            <a:ext cx="2560320" cy="3108960"/>
          </a:xfrm>
          <a:prstGeom prst="roundRect">
            <a:avLst>
              <a:gd name="adj" fmla="val 8929"/>
            </a:avLst>
          </a:prstGeom>
          <a:solidFill>
            <a:srgbClr val="141C33"/>
          </a:solidFill>
          <a:ln w="19050">
            <a:solidFill>
              <a:srgbClr val="9B7B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858000" y="1645920"/>
            <a:ext cx="914400" cy="914400"/>
          </a:xfrm>
          <a:prstGeom prst="ellipse">
            <a:avLst/>
          </a:prstGeom>
          <a:solidFill>
            <a:srgbClr val="9B7BFF">
              <a:alpha val="20000"/>
            </a:srgbClr>
          </a:solidFill>
          <a:ln w="19050">
            <a:solidFill>
              <a:srgbClr val="9B7BF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87452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0350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Marketing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6309360" y="3200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9B7BFF">
              <a:alpha val="20000"/>
            </a:srgbClr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30936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Clientes recurrentes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6309360" y="36576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9B7BFF">
              <a:alpha val="20000"/>
            </a:srgbClr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309360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Regiones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309360" y="41148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9B7BFF">
              <a:alpha val="20000"/>
            </a:srgbClr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309360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Satisfacción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9D3C5">
              <a:alpha val="8000"/>
            </a:srgbClr>
          </a:solidFill>
          <a:ln w="12700">
            <a:solidFill>
              <a:srgbClr val="19D3C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749040"/>
            <a:ext cx="2743200" cy="2743200"/>
          </a:xfrm>
          <a:prstGeom prst="ellipse">
            <a:avLst/>
          </a:prstGeom>
          <a:solidFill>
            <a:srgbClr val="FF8A3D">
              <a:alpha val="7000"/>
            </a:srgbClr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KPIs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indicadores, 1 dashboard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874520" cy="1280160"/>
          </a:xfrm>
          <a:prstGeom prst="roundRect">
            <a:avLst>
              <a:gd name="adj" fmla="val 14286"/>
            </a:avLst>
          </a:prstGeom>
          <a:solidFill>
            <a:srgbClr val="141C33"/>
          </a:solidFill>
          <a:ln w="15875">
            <a:solidFill>
              <a:srgbClr val="19D3C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6002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240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Ventas totales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606040" y="1463040"/>
            <a:ext cx="1874520" cy="1280160"/>
          </a:xfrm>
          <a:prstGeom prst="roundRect">
            <a:avLst>
              <a:gd name="adj" fmla="val 14286"/>
            </a:avLst>
          </a:prstGeom>
          <a:solidFill>
            <a:srgbClr val="141C33"/>
          </a:solidFill>
          <a:ln w="15875">
            <a:solidFill>
              <a:srgbClr val="19D3C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6002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06040" y="2240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Órdenes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663440" y="1463040"/>
            <a:ext cx="1874520" cy="1280160"/>
          </a:xfrm>
          <a:prstGeom prst="roundRect">
            <a:avLst>
              <a:gd name="adj" fmla="val 14286"/>
            </a:avLst>
          </a:prstGeom>
          <a:solidFill>
            <a:srgbClr val="141C33"/>
          </a:solidFill>
          <a:ln w="15875">
            <a:solidFill>
              <a:srgbClr val="19D3C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6002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63440" y="2240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Ticket promedio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720840" y="1463040"/>
            <a:ext cx="1874520" cy="1280160"/>
          </a:xfrm>
          <a:prstGeom prst="roundRect">
            <a:avLst>
              <a:gd name="adj" fmla="val 14286"/>
            </a:avLst>
          </a:prstGeom>
          <a:solidFill>
            <a:srgbClr val="141C33"/>
          </a:solidFill>
          <a:ln w="15875">
            <a:solidFill>
              <a:srgbClr val="9B7BF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160020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20840" y="2240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Clientes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548640" y="2926080"/>
            <a:ext cx="1874520" cy="1280160"/>
          </a:xfrm>
          <a:prstGeom prst="roundRect">
            <a:avLst>
              <a:gd name="adj" fmla="val 14286"/>
            </a:avLst>
          </a:prstGeom>
          <a:solidFill>
            <a:srgbClr val="141C33"/>
          </a:solidFill>
          <a:ln w="15875">
            <a:solidFill>
              <a:srgbClr val="9B7BF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3063240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48640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Ticket por cliente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2606040" y="2926080"/>
            <a:ext cx="1874520" cy="1280160"/>
          </a:xfrm>
          <a:prstGeom prst="roundRect">
            <a:avLst>
              <a:gd name="adj" fmla="val 14286"/>
            </a:avLst>
          </a:prstGeom>
          <a:solidFill>
            <a:srgbClr val="141C33"/>
          </a:solidFill>
          <a:ln w="15875">
            <a:solidFill>
              <a:srgbClr val="9B7BF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408" y="3063240"/>
            <a:ext cx="548640" cy="54864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2606040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Calificación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4663440" y="2926080"/>
            <a:ext cx="1874520" cy="1280160"/>
          </a:xfrm>
          <a:prstGeom prst="roundRect">
            <a:avLst>
              <a:gd name="adj" fmla="val 14286"/>
            </a:avLst>
          </a:prstGeom>
          <a:solidFill>
            <a:srgbClr val="141C33"/>
          </a:solidFill>
          <a:ln w="15875">
            <a:solidFill>
              <a:srgbClr val="FF8A3D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1808" y="3063240"/>
            <a:ext cx="548640" cy="54864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663440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Días de entrega</a:t>
            </a:r>
            <a:endParaRPr lang="en-US" sz="1500" dirty="0"/>
          </a:p>
        </p:txBody>
      </p:sp>
      <p:sp>
        <p:nvSpPr>
          <p:cNvPr id="27" name="Shape 18"/>
          <p:cNvSpPr/>
          <p:nvPr/>
        </p:nvSpPr>
        <p:spPr>
          <a:xfrm>
            <a:off x="6720840" y="2926080"/>
            <a:ext cx="1874520" cy="1280160"/>
          </a:xfrm>
          <a:prstGeom prst="roundRect">
            <a:avLst>
              <a:gd name="adj" fmla="val 14286"/>
            </a:avLst>
          </a:prstGeom>
          <a:solidFill>
            <a:srgbClr val="141C33"/>
          </a:solidFill>
          <a:ln w="15875">
            <a:solidFill>
              <a:srgbClr val="FF8A3D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9208" y="3063240"/>
            <a:ext cx="548640" cy="54864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720840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Entrega tardía %</a:t>
            </a:r>
            <a:endParaRPr lang="en-US" sz="1500" dirty="0"/>
          </a:p>
        </p:txBody>
      </p:sp>
      <p:sp>
        <p:nvSpPr>
          <p:cNvPr id="30" name="Shape 20"/>
          <p:cNvSpPr/>
          <p:nvPr/>
        </p:nvSpPr>
        <p:spPr>
          <a:xfrm>
            <a:off x="548640" y="4480560"/>
            <a:ext cx="164592" cy="164592"/>
          </a:xfrm>
          <a:prstGeom prst="ellipse">
            <a:avLst/>
          </a:prstGeom>
          <a:solidFill>
            <a:srgbClr val="19D3C5"/>
          </a:solidFill>
          <a:ln w="12700">
            <a:solidFill>
              <a:srgbClr val="19D3C5"/>
            </a:solidFill>
            <a:prstDash val="solid"/>
          </a:ln>
        </p:spPr>
      </p:sp>
      <p:sp>
        <p:nvSpPr>
          <p:cNvPr id="31" name="Text 21"/>
          <p:cNvSpPr txBox="1"/>
          <p:nvPr/>
        </p:nvSpPr>
        <p:spPr>
          <a:xfrm>
            <a:off x="804672" y="4425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F"/>
                </a:solidFill>
              </a:rPr>
              <a:t>Comercial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2286000" y="4480560"/>
            <a:ext cx="164592" cy="164592"/>
          </a:xfrm>
          <a:prstGeom prst="ellipse">
            <a:avLst/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2542032" y="4425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F"/>
                </a:solidFill>
              </a:rPr>
              <a:t>Clientes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4023360" y="448056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4279392" y="4425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F"/>
                </a:solidFill>
              </a:rPr>
              <a:t>Logística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5486400" y="44256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8A3D"/>
                </a:solidFill>
              </a:rPr>
              <a:t>Meta: cada KPI en &lt; 5 segundos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9D3C5">
              <a:alpha val="8000"/>
            </a:srgbClr>
          </a:solidFill>
          <a:ln w="12700">
            <a:solidFill>
              <a:srgbClr val="19D3C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749040"/>
            <a:ext cx="2743200" cy="2743200"/>
          </a:xfrm>
          <a:prstGeom prst="ellipse">
            <a:avLst/>
          </a:prstGeom>
          <a:solidFill>
            <a:srgbClr val="FF8A3D">
              <a:alpha val="7000"/>
            </a:srgbClr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9B4CF"/>
                </a:solidFill>
              </a:rPr>
              <a:t>DE ESTO...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horas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4206240" y="1097280"/>
            <a:ext cx="914400" cy="502920"/>
          </a:xfrm>
          <a:prstGeom prst="rightArrow">
            <a:avLst/>
          </a:prstGeom>
          <a:solidFill>
            <a:srgbClr val="A9B4CF"/>
          </a:solidFill>
          <a:ln w="12700">
            <a:solidFill>
              <a:srgbClr val="A9B4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9B4CF"/>
                </a:solidFill>
              </a:rPr>
              <a:t>A ESTO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868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9D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s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1097280" cy="1097280"/>
          </a:xfrm>
          <a:prstGeom prst="ellipse">
            <a:avLst/>
          </a:prstGeom>
          <a:solidFill>
            <a:srgbClr val="19D3C5">
              <a:alpha val="20000"/>
            </a:srgbClr>
          </a:solidFill>
          <a:ln w="19050">
            <a:solidFill>
              <a:srgbClr val="19D3C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6576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Datos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920240" y="2788920"/>
            <a:ext cx="502920" cy="274320"/>
          </a:xfrm>
          <a:prstGeom prst="rightArrow">
            <a:avLst/>
          </a:prstGeom>
          <a:solidFill>
            <a:srgbClr val="A9B4CF"/>
          </a:solidFill>
          <a:ln w="12700">
            <a:solidFill>
              <a:srgbClr val="A9B4C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97480" y="2377440"/>
            <a:ext cx="1097280" cy="1097280"/>
          </a:xfrm>
          <a:prstGeom prst="ellipse">
            <a:avLst/>
          </a:prstGeom>
          <a:solidFill>
            <a:srgbClr val="19D3C5">
              <a:alpha val="20000"/>
            </a:srgbClr>
          </a:solidFill>
          <a:ln w="19050">
            <a:solidFill>
              <a:srgbClr val="19D3C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6517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42316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ETL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977640" y="2788920"/>
            <a:ext cx="502920" cy="274320"/>
          </a:xfrm>
          <a:prstGeom prst="rightArrow">
            <a:avLst/>
          </a:prstGeom>
          <a:solidFill>
            <a:srgbClr val="A9B4CF"/>
          </a:solidFill>
          <a:ln w="12700">
            <a:solidFill>
              <a:srgbClr val="A9B4C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54880" y="2377440"/>
            <a:ext cx="1097280" cy="1097280"/>
          </a:xfrm>
          <a:prstGeom prst="ellipse">
            <a:avLst/>
          </a:prstGeom>
          <a:solidFill>
            <a:srgbClr val="19D3C5">
              <a:alpha val="20000"/>
            </a:srgbClr>
          </a:solidFill>
          <a:ln w="19050">
            <a:solidFill>
              <a:srgbClr val="19D3C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65176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48056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Mart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035040" y="2788920"/>
            <a:ext cx="502920" cy="274320"/>
          </a:xfrm>
          <a:prstGeom prst="rightArrow">
            <a:avLst/>
          </a:prstGeom>
          <a:solidFill>
            <a:srgbClr val="A9B4CF"/>
          </a:solidFill>
          <a:ln w="12700">
            <a:solidFill>
              <a:srgbClr val="A9B4C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12280" y="2377440"/>
            <a:ext cx="1097280" cy="1097280"/>
          </a:xfrm>
          <a:prstGeom prst="ellipse">
            <a:avLst/>
          </a:prstGeom>
          <a:solidFill>
            <a:srgbClr val="FF8A3D">
              <a:alpha val="20000"/>
            </a:srgbClr>
          </a:solidFill>
          <a:ln w="19050">
            <a:solidFill>
              <a:srgbClr val="FF8A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65176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53796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Dashboard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Veamos la demo funcional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Nanoparuro - Realidad, problemática e indicadores</dc:title>
  <dc:subject>PptxGenJS Presentation</dc:subject>
  <dc:creator>PptxGenJS</dc:creator>
  <cp:lastModifiedBy>PptxGenJS</cp:lastModifiedBy>
  <cp:revision>1</cp:revision>
  <dcterms:created xsi:type="dcterms:W3CDTF">2026-10-20T03:02:08Z</dcterms:created>
  <dcterms:modified xsi:type="dcterms:W3CDTF">2026-10-20T03:02:08Z</dcterms:modified>
</cp:coreProperties>
</file>